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85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2926080" cy="4997196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926080" y="73152"/>
            <a:ext cx="45720" cy="49971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229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880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Computación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7160" y="3886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Integral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O1 — Junio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0" y="5029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Acceso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00400" y="117043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Laboratorio de Electrónica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0" y="1645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ESP32 y RFID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200400" y="2240280"/>
            <a:ext cx="5577840" cy="36576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3200400" y="2377440"/>
            <a:ext cx="1783080" cy="475488"/>
          </a:xfrm>
          <a:prstGeom prst="rect">
            <a:avLst/>
          </a:prstGeom>
          <a:solidFill>
            <a:srgbClr val="1225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441448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2395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74920" y="2377440"/>
            <a:ext cx="1783080" cy="475488"/>
          </a:xfrm>
          <a:prstGeom prst="rect">
            <a:avLst/>
          </a:prstGeom>
          <a:solidFill>
            <a:srgbClr val="1225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44144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2395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WiFi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49440" y="2377440"/>
            <a:ext cx="1783080" cy="475488"/>
          </a:xfrm>
          <a:prstGeom prst="rect">
            <a:avLst/>
          </a:prstGeom>
          <a:solidFill>
            <a:srgbClr val="1225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44144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2395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200400" y="3108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César Sánchez Méndez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3200400" y="3474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200400" y="4160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embebido · Servidor web · Control de acceso en tiempo real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hoy en el laboratorio?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18872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1430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de electrónica carece de un sistema automatizado de control de acceso, lo que genera: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8288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274320" y="182880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38912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Propenso a errores y omisiones constantes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8288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00400" y="182880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3364992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validación en tiempo real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6499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verificar si un alumno pertenece a la clase activa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8288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126480" y="182880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6291072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horarios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9107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permitidos fuera del horario de clase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274320" y="301752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438912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poco confiables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8912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posibilidad de exportar ni auditar asistencias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0" y="30175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3200400" y="301752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3364992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persistente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64992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intentos no autorizados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26480" y="30175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6126480" y="3017520"/>
            <a:ext cx="91440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6291072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inexistentes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91072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notificación ante accesos indebidos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44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82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y Objetivo General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registro manual y sus errores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acceso solo en horario de clase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426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datos vía WiFi con interfaz 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181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exportables en CSV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935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visual inmediata (LED + TFT)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0690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integrador: embebidos + redes + web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20624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de control y registro de asistencia para el laboratorio de electrónica basado en ESP32 y RFID (MFRC522).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9077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y gestionar tarjetas RFID por materia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accesos según horarios con NTP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675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interfaz web para el administrador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0599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todos los eventos con historial exportable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4439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feedback visual en pantalla TFT y LEDs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303520" cy="38404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Incluye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captura de tarjetas RFID (UID, nombre, cuenta, materia)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acceso por materia y horario en tiempo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59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Retroalimentación: LED verde/rojo + servo SG90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TFT: acceso permitido/denegado con datos del usuario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embebido en ESP32 (CRUD completo)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asistencias + exportación CSV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notificaciones para eventos relevantes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379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hora vía NTP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188720"/>
            <a:ext cx="3108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5760720" y="1188720"/>
            <a:ext cx="310896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852160" y="1188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incluye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16916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o biométrico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1671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6426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escolares externos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requerimientos identificados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01752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35608" y="138074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435608" y="1380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RFID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2344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423160" y="123444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496312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138074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630168" y="1380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96312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asistencia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2344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617720" y="123444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690872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24728" y="138074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824728" y="1380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0872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horario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2344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812280" y="123444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885432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19288" y="138074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019288" y="1380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85432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alumnos (web)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240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28600" y="224028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01752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35608" y="238658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1435608" y="23865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1752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materias (web)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2423160" y="224028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496312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30168" y="238658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3630168" y="23865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96312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horarios (web)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2240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4617720" y="224028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690872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24728" y="238658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5824728" y="23865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90872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accesos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12280" y="2240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6812280" y="224028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6885432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19288" y="238658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8019288" y="23865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85432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TFT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" y="32461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228600" y="3246120"/>
            <a:ext cx="201168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301752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435608" y="3392424"/>
            <a:ext cx="713232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1435608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1752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servo/LEDs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423160" y="32461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2423160" y="32461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2496312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30168" y="3392424"/>
            <a:ext cx="713232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3630168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496312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17720" y="32461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4617720" y="32461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8" name="Text 66"/>
          <p:cNvSpPr/>
          <p:nvPr/>
        </p:nvSpPr>
        <p:spPr>
          <a:xfrm>
            <a:off x="4690872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824728" y="3392424"/>
            <a:ext cx="713232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8"/>
          <p:cNvSpPr/>
          <p:nvPr/>
        </p:nvSpPr>
        <p:spPr>
          <a:xfrm>
            <a:off x="5824728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690872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CSV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12280" y="32461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6812280" y="3246120"/>
            <a:ext cx="2011680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4" name="Text 72"/>
          <p:cNvSpPr/>
          <p:nvPr/>
        </p:nvSpPr>
        <p:spPr>
          <a:xfrm>
            <a:off x="6885432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019288" y="3392424"/>
            <a:ext cx="713232" cy="237744"/>
          </a:xfrm>
          <a:prstGeom prst="rect">
            <a:avLst/>
          </a:prstGeom>
          <a:solidFill>
            <a:srgbClr val="64748B">
              <a:alpha val="25000"/>
            </a:srgbClr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Text 74"/>
          <p:cNvSpPr/>
          <p:nvPr/>
        </p:nvSpPr>
        <p:spPr>
          <a:xfrm>
            <a:off x="8019288" y="33924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885432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ESP32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8600" y="4343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05840" y="4434840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0" name="Text 78"/>
          <p:cNvSpPr/>
          <p:nvPr/>
        </p:nvSpPr>
        <p:spPr>
          <a:xfrm>
            <a:off x="1243584" y="4389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011680" y="443484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2" name="Text 80"/>
          <p:cNvSpPr/>
          <p:nvPr/>
        </p:nvSpPr>
        <p:spPr>
          <a:xfrm>
            <a:off x="2249424" y="4389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017520" y="4434840"/>
            <a:ext cx="201168" cy="2011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4" name="Text 82"/>
          <p:cNvSpPr/>
          <p:nvPr/>
        </p:nvSpPr>
        <p:spPr>
          <a:xfrm>
            <a:off x="3255264" y="4389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0E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28600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228600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DevKit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1671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Lector RFID MFRC522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64261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Pantalla TFT ST7735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11810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Servo SG90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5935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RGB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0690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Tarjetas RFID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274320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63240" y="1188720"/>
            <a:ext cx="256032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063240" y="1188720"/>
            <a:ext cx="2560320" cy="3840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10896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NÚCLEO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1691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Servidor Web HTTP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21671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Validación RFID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2642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Control de horarios (NTP)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54680" y="31181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SPIFFS (CSV local)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54680" y="35935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Módulo notificaciones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4069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Sync con FastAPI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50992" y="2971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188720"/>
            <a:ext cx="274320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126480" y="1188720"/>
            <a:ext cx="274320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17220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+ BD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691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(Python)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1671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Oracle DB XE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6426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Endpoints REST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1181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Deduplicación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5935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Sincronización /sync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4069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Historial centralizado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— Interfaz Web Embebida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accesible desde cualquier navegador por WiFi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Inicio /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 del sistema y accesos recientes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291840" y="1344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Gestión de Alumnos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09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individual o por lote, edición y eliminación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217920" y="1344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Materias y Horarios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709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materias con detección de conflictos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Historial de Asistencias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alumno/materia + exportar CSV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4688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3200400" y="246888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29184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Notificaciones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tarjetas desconocidas o fuera de horario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6126480" y="2468880"/>
            <a:ext cx="274320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21792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Maestros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profesores con tarjeta RFID asociada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8F4FD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Auto-registro vía QR: el alumno escanea el código QR desde su celular y completa su registro sin intervención del administrador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Lógico — Base de Datos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XE · Doble persistencia SPIFFS + Oracle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594360"/>
          </a:xfrm>
          <a:prstGeom prst="rect">
            <a:avLst/>
          </a:prstGeom>
          <a:solidFill>
            <a:srgbClr val="E8F4FD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Fuente primaria en tiempo real (sin latencia de red)  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Réplica confiable y consultas históricas complejas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011680" cy="2926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RFID, nombre, cuenta, materia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450592" y="1920240"/>
            <a:ext cx="2011680" cy="2926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523744" y="19202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23744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RFID, nombre, cuenta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92024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201168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700016" y="19202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0016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materia, profesor responsable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92024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803136" y="1920240"/>
            <a:ext cx="201168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horarios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76288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Materia, día, hora inicio, hora fin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2011680" cy="2926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47472" y="30175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asistencias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UID, nombre, materia, tipo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50592" y="30175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450592" y="3017520"/>
            <a:ext cx="2011680" cy="2926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523744" y="30175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accesos_denegados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23744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UID, motivo de rechazo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6864" y="30175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4626864" y="3017520"/>
            <a:ext cx="201168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700016" y="30175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0016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UID, nota, estado (leída)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03136" y="30175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6803136" y="3017520"/>
            <a:ext cx="20116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876288" y="30175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profesor_materia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76288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N:M profesores ↔ materias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endpoints de escritura son idempotentes: el mismo registro puede enviarse múltiples veces sin generar duplicados en Oracle.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Validación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casos de prueba — todos exitosos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84048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página principal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84048" y="1664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alumnos (filtros)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93976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74320" y="2093976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84048" y="20939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093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tarjeta RFID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84048" y="25237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523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válida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53512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274320" y="2953512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84048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953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registro (POST)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274320" y="3383280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84048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materia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13048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74320" y="3813048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84048" y="38130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y eliminación de materia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234440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4754880" y="1234440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864608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 (sin conflicto)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664208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4754880" y="1664208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864608" y="1664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fuera de horario → LED rojo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093976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4754880" y="2093976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864608" y="20939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2093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CSV historial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523744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4754880" y="2523744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4864608" y="25237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2523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notificaciones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2953512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754880" y="2953512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4864608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2953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de historial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3383280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4754880" y="3383280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4864608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desconocida → alerta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3813048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4754880" y="3813048"/>
            <a:ext cx="73152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4864608" y="38130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1208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NTP correcta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 pruebas superadas — Sistema validado 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12 semanas — Completado al 100%</a:t>
            </a:r>
            <a:endParaRPr lang="en-US" sz="1300" dirty="0"/>
          </a:p>
        </p:txBody>
      </p:sp>
      <p:pic>
        <p:nvPicPr>
          <p:cNvPr id="70" name="Imagen 69">
            <a:extLst>
              <a:ext uri="{FF2B5EF4-FFF2-40B4-BE49-F238E27FC236}">
                <a16:creationId xmlns:a16="http://schemas.microsoft.com/office/drawing/2014/main" id="{2CFE4E25-DDE5-81C4-7143-728DDFBA8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" y="1148749"/>
            <a:ext cx="4675749" cy="36977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" name="Tabla 70">
            <a:extLst>
              <a:ext uri="{FF2B5EF4-FFF2-40B4-BE49-F238E27FC236}">
                <a16:creationId xmlns:a16="http://schemas.microsoft.com/office/drawing/2014/main" id="{3D038E93-1B8A-1CB8-A927-287EFF9CE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657985"/>
              </p:ext>
            </p:extLst>
          </p:nvPr>
        </p:nvGraphicFramePr>
        <p:xfrm>
          <a:off x="5022008" y="1322642"/>
          <a:ext cx="3981315" cy="3395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5569">
                  <a:extLst>
                    <a:ext uri="{9D8B030D-6E8A-4147-A177-3AD203B41FA5}">
                      <a16:colId xmlns:a16="http://schemas.microsoft.com/office/drawing/2014/main" val="2476093030"/>
                    </a:ext>
                  </a:extLst>
                </a:gridCol>
                <a:gridCol w="999493">
                  <a:extLst>
                    <a:ext uri="{9D8B030D-6E8A-4147-A177-3AD203B41FA5}">
                      <a16:colId xmlns:a16="http://schemas.microsoft.com/office/drawing/2014/main" val="1692801048"/>
                    </a:ext>
                  </a:extLst>
                </a:gridCol>
                <a:gridCol w="816253">
                  <a:extLst>
                    <a:ext uri="{9D8B030D-6E8A-4147-A177-3AD203B41FA5}">
                      <a16:colId xmlns:a16="http://schemas.microsoft.com/office/drawing/2014/main" val="1385883965"/>
                    </a:ext>
                  </a:extLst>
                </a:gridCol>
              </a:tblGrid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 dirty="0">
                          <a:effectLst/>
                        </a:rPr>
                        <a:t>Actividad</a:t>
                      </a:r>
                      <a:endParaRPr lang="es-MX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Estado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Avance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603032311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Levantamiento de requerimientos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517075646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Análisis del sistema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2083697330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Diseño de interfaz (TFT y Web)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3350664177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Diseño de base de datos 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910410890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Módulo RFID — Captura y acceso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3648536144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Desarrollo módulo web (CRUD)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742544053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Validación de horarios (NTP)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68775892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Historial y notificaciones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294621127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Feedback físico (servo/LEDs)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147467709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Pruebas y correcciones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3713753903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Documentación final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100%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2119207264"/>
                  </a:ext>
                </a:extLst>
              </a:tr>
              <a:tr h="2337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Presentación del proyecto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>
                          <a:effectLst/>
                        </a:rPr>
                        <a:t>Completado</a:t>
                      </a:r>
                      <a:endParaRPr lang="es-MX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s-ES" sz="1000" kern="100" dirty="0">
                          <a:effectLst/>
                        </a:rPr>
                        <a:t>100%</a:t>
                      </a:r>
                      <a:endParaRPr lang="es-MX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2756" marR="72756" marT="48504" marB="48504" anchor="ctr"/>
                </a:tc>
                <a:extLst>
                  <a:ext uri="{0D108BD9-81ED-4DB2-BD59-A6C34878D82A}">
                    <a16:rowId xmlns:a16="http://schemas.microsoft.com/office/drawing/2014/main" val="14723916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9144000" cy="1508760"/>
          </a:xfrm>
          <a:prstGeom prst="rect">
            <a:avLst/>
          </a:prstGeom>
          <a:solidFill>
            <a:srgbClr val="060E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Acceso — ESP32 + RFID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6052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848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9019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cumplidos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 implementados y validados exitosamente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828800"/>
            <a:ext cx="416052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84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9019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estructurado en /include/, /src/ y /src/web/ para fácil mantenimiento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108960"/>
            <a:ext cx="416052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6499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persistencia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" y="35661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 garantiza disponibilidad; Oracle garantiza integridad histórica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108960"/>
            <a:ext cx="416052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6499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y escalable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0" y="35661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integrarse con sistemas externos o migrar a hardware más potente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César Sánchez Méndez  ·  Grupo O1  ·  Facultad de Ingeniería, UAEM  ·  Junio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1043</Words>
  <Application>Microsoft Office PowerPoint</Application>
  <PresentationFormat>Presentación en pantalla (16:9)</PresentationFormat>
  <Paragraphs>256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 de Acceso ESP32</dc:title>
  <dc:subject>PptxGenJS Presentation</dc:subject>
  <dc:creator>Julio César Sánchez Méndez</dc:creator>
  <cp:lastModifiedBy>Julio Cesar Sanchez Mendez</cp:lastModifiedBy>
  <cp:revision>3</cp:revision>
  <dcterms:created xsi:type="dcterms:W3CDTF">2026-06-08T04:53:02Z</dcterms:created>
  <dcterms:modified xsi:type="dcterms:W3CDTF">2026-06-10T01:20:02Z</dcterms:modified>
</cp:coreProperties>
</file>